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EF8F-E840-47F9-BFDA-0EB21253583A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AE45C-BE96-4DC7-97A9-0F7A0D2C22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9388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EF8F-E840-47F9-BFDA-0EB21253583A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AE45C-BE96-4DC7-97A9-0F7A0D2C22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5759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EF8F-E840-47F9-BFDA-0EB21253583A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AE45C-BE96-4DC7-97A9-0F7A0D2C22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7420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EF8F-E840-47F9-BFDA-0EB21253583A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AE45C-BE96-4DC7-97A9-0F7A0D2C22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0030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EF8F-E840-47F9-BFDA-0EB21253583A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AE45C-BE96-4DC7-97A9-0F7A0D2C22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9578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EF8F-E840-47F9-BFDA-0EB21253583A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AE45C-BE96-4DC7-97A9-0F7A0D2C22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6975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EF8F-E840-47F9-BFDA-0EB21253583A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AE45C-BE96-4DC7-97A9-0F7A0D2C22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7231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EF8F-E840-47F9-BFDA-0EB21253583A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AE45C-BE96-4DC7-97A9-0F7A0D2C22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1271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EF8F-E840-47F9-BFDA-0EB21253583A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AE45C-BE96-4DC7-97A9-0F7A0D2C22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2706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EF8F-E840-47F9-BFDA-0EB21253583A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AE45C-BE96-4DC7-97A9-0F7A0D2C22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231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EF8F-E840-47F9-BFDA-0EB21253583A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AE45C-BE96-4DC7-97A9-0F7A0D2C22F2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08012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EF8F-E840-47F9-BFDA-0EB21253583A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AE45C-BE96-4DC7-97A9-0F7A0D2C22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4208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EF8F-E840-47F9-BFDA-0EB21253583A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AE45C-BE96-4DC7-97A9-0F7A0D2C22F2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35412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EF8F-E840-47F9-BFDA-0EB21253583A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AE45C-BE96-4DC7-97A9-0F7A0D2C22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01093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EF8F-E840-47F9-BFDA-0EB21253583A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AE45C-BE96-4DC7-97A9-0F7A0D2C22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45266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EF8F-E840-47F9-BFDA-0EB21253583A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AE45C-BE96-4DC7-97A9-0F7A0D2C22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84854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C5DD29-EE0A-6910-1DC9-D722DB93A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9731C57-B45F-F952-5529-DDE53E6224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E2BBD3-5FE9-CFD3-8207-ECEEF7A42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EF8F-E840-47F9-BFDA-0EB21253583A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2DB2CD-CCC9-2B4E-AE0F-0AE7AAFC3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E8D56F-B9C0-1763-0FB3-B9DD51F4E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AE45C-BE96-4DC7-97A9-0F7A0D2C22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0690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41EF8F-E840-47F9-BFDA-0EB21253583A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A5AE45C-BE96-4DC7-97A9-0F7A0D2C22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5379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7494B5-073B-F70F-2888-25261343C3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2400" b="1" dirty="0">
                <a:latin typeface="Calibri" panose="020F0502020204030204" pitchFamily="34" charset="0"/>
              </a:rPr>
              <a:t>SEO-ПРОДВИЖЕНИЕ КОНСАЛТИНГОВОЙ КОМПАНИИ</a:t>
            </a:r>
            <a:br>
              <a:rPr lang="ru-RU" sz="1800" dirty="0">
                <a:latin typeface="Calibri" panose="020F0502020204030204" pitchFamily="34" charset="0"/>
              </a:rPr>
            </a:br>
            <a:r>
              <a:rPr lang="ru-RU" sz="2000" b="1" dirty="0">
                <a:latin typeface="Calibri" panose="020F0502020204030204" pitchFamily="34" charset="0"/>
              </a:rPr>
              <a:t>Кейс: </a:t>
            </a:r>
            <a:r>
              <a:rPr lang="ru-RU" sz="2000" b="1" dirty="0" err="1">
                <a:latin typeface="Calibri" panose="020F0502020204030204" pitchFamily="34" charset="0"/>
              </a:rPr>
              <a:t>PianetaAzienda</a:t>
            </a:r>
            <a:endParaRPr lang="ru-RU" sz="2000" b="1" dirty="0">
              <a:latin typeface="Calibri" panose="020F050202020403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11BF0CD-879A-6ED5-DCCC-F34C92A76A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ru-RU" sz="1800" b="1" dirty="0">
                <a:latin typeface="Calibri" panose="020F0502020204030204" pitchFamily="34" charset="0"/>
              </a:rPr>
              <a:t>Как системный аналитик увеличила органический трафик</a:t>
            </a:r>
          </a:p>
          <a:p>
            <a:r>
              <a:rPr lang="ru-RU" sz="1800" b="1" dirty="0">
                <a:latin typeface="Calibri" panose="020F0502020204030204" pitchFamily="34" charset="0"/>
              </a:rPr>
              <a:t>для консалтинга малого и среднего бизнеса</a:t>
            </a:r>
          </a:p>
          <a:p>
            <a:endParaRPr lang="ru-RU" sz="1800" dirty="0">
              <a:latin typeface="Calibri" panose="020F0502020204030204" pitchFamily="34" charset="0"/>
            </a:endParaRPr>
          </a:p>
          <a:p>
            <a:r>
              <a:rPr lang="ru-RU" sz="1800" b="1" dirty="0">
                <a:latin typeface="Calibri" panose="020F0502020204030204" pitchFamily="34" charset="0"/>
              </a:rPr>
              <a:t>Варганова Полина Андреевна</a:t>
            </a:r>
          </a:p>
          <a:p>
            <a:r>
              <a:rPr lang="ru-RU" sz="1800" dirty="0">
                <a:latin typeface="Calibri" panose="020F0502020204030204" pitchFamily="34" charset="0"/>
              </a:rPr>
              <a:t>Март 2023 - Ноябрь 2025 | 2 года 9 месяцев</a:t>
            </a:r>
          </a:p>
          <a:p>
            <a:r>
              <a:rPr lang="ru-RU" sz="1800" dirty="0">
                <a:latin typeface="Calibri" panose="020F0502020204030204" pitchFamily="34" charset="0"/>
              </a:rPr>
              <a:t>+7 (916) 081-03-37 | @PollyHimbeere</a:t>
            </a:r>
          </a:p>
        </p:txBody>
      </p:sp>
    </p:spTree>
    <p:extLst>
      <p:ext uri="{BB962C8B-B14F-4D97-AF65-F5344CB8AC3E}">
        <p14:creationId xmlns:p14="http://schemas.microsoft.com/office/powerpoint/2010/main" val="3865069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C0DBF4-007F-15DE-7AE6-2A5BD9585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b="1" dirty="0">
                <a:latin typeface="Calibri" panose="020F0502020204030204" pitchFamily="34" charset="0"/>
              </a:rPr>
              <a:t>КЛИЕНТ: </a:t>
            </a:r>
            <a:r>
              <a:rPr lang="en-US" sz="3200" b="1" dirty="0">
                <a:latin typeface="Calibri" panose="020F0502020204030204" pitchFamily="34" charset="0"/>
              </a:rPr>
              <a:t>PIANETA AZIENDA</a:t>
            </a:r>
            <a:endParaRPr lang="ru-RU" sz="3200" b="1" dirty="0">
              <a:latin typeface="Calibri" panose="020F0502020204030204" pitchFamily="34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B3A5D5A-C62E-0FBB-693D-0BB827F9E0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ru-RU" sz="1800" b="1" dirty="0">
                <a:latin typeface="Calibri" panose="020F0502020204030204" pitchFamily="34" charset="0"/>
              </a:rPr>
              <a:t>Формат: Консалтинговая компания для МСБ</a:t>
            </a:r>
          </a:p>
          <a:p>
            <a:r>
              <a:rPr lang="ru-RU" sz="1800" dirty="0">
                <a:latin typeface="Calibri" panose="020F0502020204030204" pitchFamily="34" charset="0"/>
              </a:rPr>
              <a:t>- Международное участие (собственник - итальянец)</a:t>
            </a:r>
          </a:p>
          <a:p>
            <a:r>
              <a:rPr lang="ru-RU" sz="1800" dirty="0">
                <a:latin typeface="Calibri" panose="020F0502020204030204" pitchFamily="34" charset="0"/>
              </a:rPr>
              <a:t>- Услуги: бизнес-консалтинг, оптимизация процессов, цифровизация</a:t>
            </a:r>
          </a:p>
          <a:p>
            <a:r>
              <a:rPr lang="ru-RU" sz="1800" dirty="0">
                <a:latin typeface="Calibri" panose="020F0502020204030204" pitchFamily="34" charset="0"/>
              </a:rPr>
              <a:t>- Целевая аудитория: малый и средний бизнес Россия/Италия</a:t>
            </a:r>
          </a:p>
          <a:p>
            <a:endParaRPr lang="ru-RU" sz="1800" dirty="0">
              <a:latin typeface="Calibri" panose="020F0502020204030204" pitchFamily="34" charset="0"/>
            </a:endParaRPr>
          </a:p>
          <a:p>
            <a:r>
              <a:rPr lang="ru-RU" sz="1800" b="1" dirty="0">
                <a:latin typeface="Calibri" panose="020F0502020204030204" pitchFamily="34" charset="0"/>
              </a:rPr>
              <a:t>SEO-задачи:</a:t>
            </a:r>
          </a:p>
          <a:p>
            <a:r>
              <a:rPr lang="ru-RU" sz="1800" dirty="0">
                <a:latin typeface="Calibri" panose="020F0502020204030204" pitchFamily="34" charset="0"/>
              </a:rPr>
              <a:t>- Увеличить видимость в поиске по ключевым услугам</a:t>
            </a:r>
          </a:p>
          <a:p>
            <a:r>
              <a:rPr lang="ru-RU" sz="1800" dirty="0">
                <a:latin typeface="Calibri" panose="020F0502020204030204" pitchFamily="34" charset="0"/>
              </a:rPr>
              <a:t>- Привлекать органический трафик из двух стран</a:t>
            </a:r>
          </a:p>
          <a:p>
            <a:r>
              <a:rPr lang="ru-RU" sz="1800" dirty="0">
                <a:latin typeface="Calibri" panose="020F0502020204030204" pitchFamily="34" charset="0"/>
              </a:rPr>
              <a:t>- Автоматизировать создание SEO-контента (3 языка)</a:t>
            </a:r>
          </a:p>
          <a:p>
            <a:r>
              <a:rPr lang="ru-RU" sz="1800" dirty="0">
                <a:latin typeface="Calibri" panose="020F0502020204030204" pitchFamily="34" charset="0"/>
              </a:rPr>
              <a:t>- Повысить конверсию из поиска в заявки</a:t>
            </a:r>
          </a:p>
        </p:txBody>
      </p:sp>
    </p:spTree>
    <p:extLst>
      <p:ext uri="{BB962C8B-B14F-4D97-AF65-F5344CB8AC3E}">
        <p14:creationId xmlns:p14="http://schemas.microsoft.com/office/powerpoint/2010/main" val="903818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A87729-1469-0242-C25C-AA539E20F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95309"/>
            <a:ext cx="8596668" cy="763479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>
                <a:latin typeface="Calibri" panose="020F0502020204030204" pitchFamily="34" charset="0"/>
              </a:rPr>
              <a:t>КЕЙС 1: ТЕХНИЧЕСКАЯ ОПТИМИЗАЦИЯ САЙТА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DF84AAE-C7A3-A76B-0127-058CF5A91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1305017"/>
            <a:ext cx="8596668" cy="4736345"/>
          </a:xfrm>
        </p:spPr>
        <p:txBody>
          <a:bodyPr>
            <a:noAutofit/>
          </a:bodyPr>
          <a:lstStyle/>
          <a:p>
            <a:r>
              <a:rPr lang="ru-RU" sz="1600" b="1" dirty="0">
                <a:latin typeface="Calibri" panose="020F0502020204030204" pitchFamily="34" charset="0"/>
              </a:rPr>
              <a:t>Проблема:</a:t>
            </a:r>
          </a:p>
          <a:p>
            <a:r>
              <a:rPr lang="ru-RU" sz="1400" dirty="0">
                <a:latin typeface="Calibri" panose="020F0502020204030204" pitchFamily="34" charset="0"/>
              </a:rPr>
              <a:t>- Медленная загрузка страниц, особенно мультиязычных версий</a:t>
            </a:r>
          </a:p>
          <a:p>
            <a:r>
              <a:rPr lang="ru-RU" sz="1400" dirty="0">
                <a:latin typeface="Calibri" panose="020F0502020204030204" pitchFamily="34" charset="0"/>
              </a:rPr>
              <a:t>- Дубли контента (рус/</a:t>
            </a:r>
            <a:r>
              <a:rPr lang="ru-RU" sz="1400" dirty="0" err="1">
                <a:latin typeface="Calibri" panose="020F0502020204030204" pitchFamily="34" charset="0"/>
              </a:rPr>
              <a:t>итал</a:t>
            </a:r>
            <a:r>
              <a:rPr lang="ru-RU" sz="1400" dirty="0">
                <a:latin typeface="Calibri" panose="020F0502020204030204" pitchFamily="34" charset="0"/>
              </a:rPr>
              <a:t>/</a:t>
            </a:r>
            <a:r>
              <a:rPr lang="ru-RU" sz="1400" dirty="0" err="1">
                <a:latin typeface="Calibri" panose="020F0502020204030204" pitchFamily="34" charset="0"/>
              </a:rPr>
              <a:t>англ</a:t>
            </a:r>
            <a:r>
              <a:rPr lang="ru-RU" sz="1400" dirty="0">
                <a:latin typeface="Calibri" panose="020F0502020204030204" pitchFamily="34" charset="0"/>
              </a:rPr>
              <a:t> версии)</a:t>
            </a:r>
          </a:p>
          <a:p>
            <a:r>
              <a:rPr lang="ru-RU" sz="1400" dirty="0">
                <a:latin typeface="Calibri" panose="020F0502020204030204" pitchFamily="34" charset="0"/>
              </a:rPr>
              <a:t>- Плохая индексация новых статей и кейсов</a:t>
            </a:r>
          </a:p>
          <a:p>
            <a:endParaRPr lang="ru-RU" sz="1800" dirty="0">
              <a:latin typeface="Calibri" panose="020F0502020204030204" pitchFamily="34" charset="0"/>
            </a:endParaRPr>
          </a:p>
          <a:p>
            <a:r>
              <a:rPr lang="ru-RU" sz="1600" b="1" dirty="0">
                <a:latin typeface="Calibri" panose="020F0502020204030204" pitchFamily="34" charset="0"/>
              </a:rPr>
              <a:t>Решение:</a:t>
            </a:r>
          </a:p>
          <a:p>
            <a:r>
              <a:rPr lang="ru-RU" sz="1400" dirty="0">
                <a:latin typeface="Calibri" panose="020F0502020204030204" pitchFamily="34" charset="0"/>
              </a:rPr>
              <a:t>- Python-скрипты для автоматического технического аудита</a:t>
            </a:r>
          </a:p>
          <a:p>
            <a:r>
              <a:rPr lang="ru-RU" sz="1400" dirty="0">
                <a:latin typeface="Calibri" panose="020F0502020204030204" pitchFamily="34" charset="0"/>
              </a:rPr>
              <a:t>- Внедрение </a:t>
            </a:r>
            <a:r>
              <a:rPr lang="ru-RU" sz="1400" dirty="0" err="1">
                <a:latin typeface="Calibri" panose="020F0502020204030204" pitchFamily="34" charset="0"/>
              </a:rPr>
              <a:t>hreflang</a:t>
            </a:r>
            <a:r>
              <a:rPr lang="ru-RU" sz="1400" dirty="0">
                <a:latin typeface="Calibri" panose="020F0502020204030204" pitchFamily="34" charset="0"/>
              </a:rPr>
              <a:t>-тегов через </a:t>
            </a:r>
            <a:r>
              <a:rPr lang="ru-RU" sz="1400" dirty="0" err="1">
                <a:latin typeface="Calibri" panose="020F0502020204030204" pitchFamily="34" charset="0"/>
              </a:rPr>
              <a:t>Git+CI</a:t>
            </a:r>
            <a:r>
              <a:rPr lang="ru-RU" sz="1400" dirty="0">
                <a:latin typeface="Calibri" panose="020F0502020204030204" pitchFamily="34" charset="0"/>
              </a:rPr>
              <a:t>/CD</a:t>
            </a:r>
          </a:p>
          <a:p>
            <a:r>
              <a:rPr lang="ru-RU" sz="1400" dirty="0">
                <a:latin typeface="Calibri" panose="020F0502020204030204" pitchFamily="34" charset="0"/>
              </a:rPr>
              <a:t>- Оптимизация Core Web </a:t>
            </a:r>
            <a:r>
              <a:rPr lang="ru-RU" sz="1400" dirty="0" err="1">
                <a:latin typeface="Calibri" panose="020F0502020204030204" pitchFamily="34" charset="0"/>
              </a:rPr>
              <a:t>Vitals</a:t>
            </a:r>
            <a:r>
              <a:rPr lang="ru-RU" sz="1400" dirty="0">
                <a:latin typeface="Calibri" panose="020F0502020204030204" pitchFamily="34" charset="0"/>
              </a:rPr>
              <a:t>: сжатие изображений, кэширование</a:t>
            </a:r>
          </a:p>
          <a:p>
            <a:r>
              <a:rPr lang="ru-RU" sz="1400" dirty="0">
                <a:latin typeface="Calibri" panose="020F0502020204030204" pitchFamily="34" charset="0"/>
              </a:rPr>
              <a:t>- Power BI-дашборд для мониторинга индексации</a:t>
            </a:r>
          </a:p>
          <a:p>
            <a:endParaRPr lang="ru-RU" sz="1800" dirty="0">
              <a:latin typeface="Calibri" panose="020F0502020204030204" pitchFamily="34" charset="0"/>
            </a:endParaRPr>
          </a:p>
          <a:p>
            <a:r>
              <a:rPr lang="ru-RU" sz="1600" b="1" dirty="0">
                <a:latin typeface="Calibri" panose="020F0502020204030204" pitchFamily="34" charset="0"/>
              </a:rPr>
              <a:t>Результат (6 месяцев):</a:t>
            </a:r>
          </a:p>
          <a:p>
            <a:r>
              <a:rPr lang="ru-RU" sz="1400" dirty="0">
                <a:latin typeface="Calibri" panose="020F0502020204030204" pitchFamily="34" charset="0"/>
              </a:rPr>
              <a:t>* Скорость загрузки: +65% (</a:t>
            </a:r>
            <a:r>
              <a:rPr lang="ru-RU" sz="1400" dirty="0" err="1">
                <a:latin typeface="Calibri" panose="020F0502020204030204" pitchFamily="34" charset="0"/>
              </a:rPr>
              <a:t>PageSpeed</a:t>
            </a:r>
            <a:r>
              <a:rPr lang="ru-RU" sz="1400" dirty="0">
                <a:latin typeface="Calibri" panose="020F0502020204030204" pitchFamily="34" charset="0"/>
              </a:rPr>
              <a:t> 45 до 74)</a:t>
            </a:r>
          </a:p>
          <a:p>
            <a:r>
              <a:rPr lang="ru-RU" sz="1400" dirty="0">
                <a:latin typeface="Calibri" panose="020F0502020204030204" pitchFamily="34" charset="0"/>
              </a:rPr>
              <a:t>* Индексация страниц: в 2.5 раза быстрее</a:t>
            </a:r>
          </a:p>
          <a:p>
            <a:r>
              <a:rPr lang="ru-RU" sz="1400" dirty="0">
                <a:latin typeface="Calibri" panose="020F0502020204030204" pitchFamily="34" charset="0"/>
              </a:rPr>
              <a:t>* Технические ошибки: -90%</a:t>
            </a:r>
          </a:p>
        </p:txBody>
      </p:sp>
    </p:spTree>
    <p:extLst>
      <p:ext uri="{BB962C8B-B14F-4D97-AF65-F5344CB8AC3E}">
        <p14:creationId xmlns:p14="http://schemas.microsoft.com/office/powerpoint/2010/main" val="2600519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8FC491-7E20-CCF1-DA60-0BA47AA5D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13064"/>
            <a:ext cx="8596668" cy="719091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>
                <a:latin typeface="Calibri" panose="020F0502020204030204" pitchFamily="34" charset="0"/>
              </a:rPr>
              <a:t>КЕЙС 2: </a:t>
            </a:r>
            <a:r>
              <a:rPr lang="en-US" sz="2800" b="1" dirty="0">
                <a:latin typeface="Calibri" panose="020F0502020204030204" pitchFamily="34" charset="0"/>
              </a:rPr>
              <a:t>AI-</a:t>
            </a:r>
            <a:r>
              <a:rPr lang="ru-RU" sz="2800" b="1" dirty="0">
                <a:latin typeface="Calibri" panose="020F0502020204030204" pitchFamily="34" charset="0"/>
              </a:rPr>
              <a:t>ГЕНЕРАЦИЯ </a:t>
            </a:r>
            <a:r>
              <a:rPr lang="en-US" sz="2800" b="1" dirty="0">
                <a:latin typeface="Calibri" panose="020F0502020204030204" pitchFamily="34" charset="0"/>
              </a:rPr>
              <a:t>SEO-</a:t>
            </a:r>
            <a:r>
              <a:rPr lang="ru-RU" sz="2800" b="1" dirty="0">
                <a:latin typeface="Calibri" panose="020F0502020204030204" pitchFamily="34" charset="0"/>
              </a:rPr>
              <a:t>КОНТЕНТА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B348B59-C97B-0D83-D841-07A88DAF1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1056443"/>
            <a:ext cx="8596668" cy="4984919"/>
          </a:xfrm>
        </p:spPr>
        <p:txBody>
          <a:bodyPr>
            <a:noAutofit/>
          </a:bodyPr>
          <a:lstStyle/>
          <a:p>
            <a:r>
              <a:rPr lang="ru-RU" sz="1600" b="1" dirty="0">
                <a:latin typeface="Calibri" panose="020F0502020204030204" pitchFamily="34" charset="0"/>
              </a:rPr>
              <a:t>Проблема:</a:t>
            </a:r>
          </a:p>
          <a:p>
            <a:r>
              <a:rPr lang="ru-RU" sz="1400" dirty="0">
                <a:latin typeface="Calibri" panose="020F0502020204030204" pitchFamily="34" charset="0"/>
              </a:rPr>
              <a:t>- Ручное создание контента для 3 языков</a:t>
            </a:r>
          </a:p>
          <a:p>
            <a:r>
              <a:rPr lang="ru-RU" sz="1400" dirty="0">
                <a:latin typeface="Calibri" panose="020F0502020204030204" pitchFamily="34" charset="0"/>
              </a:rPr>
              <a:t>- Низкая частота публикаций (1-2 статьи в месяц)</a:t>
            </a:r>
          </a:p>
          <a:p>
            <a:r>
              <a:rPr lang="ru-RU" sz="1400" dirty="0">
                <a:latin typeface="Calibri" panose="020F0502020204030204" pitchFamily="34" charset="0"/>
              </a:rPr>
              <a:t>- Слабое покрытие семантического ядра</a:t>
            </a:r>
          </a:p>
          <a:p>
            <a:endParaRPr lang="ru-RU" sz="1800" dirty="0">
              <a:latin typeface="Calibri" panose="020F0502020204030204" pitchFamily="34" charset="0"/>
            </a:endParaRPr>
          </a:p>
          <a:p>
            <a:r>
              <a:rPr lang="ru-RU" sz="1800" b="1" dirty="0">
                <a:latin typeface="Calibri" panose="020F0502020204030204" pitchFamily="34" charset="0"/>
              </a:rPr>
              <a:t>Решение:</a:t>
            </a:r>
          </a:p>
          <a:p>
            <a:r>
              <a:rPr lang="ru-RU" sz="1400" dirty="0">
                <a:latin typeface="Calibri" panose="020F0502020204030204" pitchFamily="34" charset="0"/>
              </a:rPr>
              <a:t>- GPT-ревью и генерация черновиков на основе ключевых запросов</a:t>
            </a:r>
          </a:p>
          <a:p>
            <a:r>
              <a:rPr lang="ru-RU" sz="1400" dirty="0">
                <a:latin typeface="Calibri" panose="020F0502020204030204" pitchFamily="34" charset="0"/>
              </a:rPr>
              <a:t>- </a:t>
            </a:r>
            <a:r>
              <a:rPr lang="ru-RU" sz="1400" dirty="0" err="1">
                <a:latin typeface="Calibri" panose="020F0502020204030204" pitchFamily="34" charset="0"/>
              </a:rPr>
              <a:t>Python+NLP</a:t>
            </a:r>
            <a:r>
              <a:rPr lang="ru-RU" sz="1400" dirty="0">
                <a:latin typeface="Calibri" panose="020F0502020204030204" pitchFamily="34" charset="0"/>
              </a:rPr>
              <a:t> для автоматической кластеризации семантики</a:t>
            </a:r>
          </a:p>
          <a:p>
            <a:r>
              <a:rPr lang="ru-RU" sz="1400" dirty="0">
                <a:latin typeface="Calibri" panose="020F0502020204030204" pitchFamily="34" charset="0"/>
              </a:rPr>
              <a:t>- </a:t>
            </a:r>
            <a:r>
              <a:rPr lang="ru-RU" sz="1400" dirty="0" err="1">
                <a:latin typeface="Calibri" panose="020F0502020204030204" pitchFamily="34" charset="0"/>
              </a:rPr>
              <a:t>DeepL+Yandex</a:t>
            </a:r>
            <a:r>
              <a:rPr lang="ru-RU" sz="1400" dirty="0">
                <a:latin typeface="Calibri" panose="020F0502020204030204" pitchFamily="34" charset="0"/>
              </a:rPr>
              <a:t> </a:t>
            </a:r>
            <a:r>
              <a:rPr lang="ru-RU" sz="1400" dirty="0" err="1">
                <a:latin typeface="Calibri" panose="020F0502020204030204" pitchFamily="34" charset="0"/>
              </a:rPr>
              <a:t>Translate</a:t>
            </a:r>
            <a:r>
              <a:rPr lang="ru-RU" sz="1400" dirty="0">
                <a:latin typeface="Calibri" panose="020F0502020204030204" pitchFamily="34" charset="0"/>
              </a:rPr>
              <a:t> API для мультиязычного контента</a:t>
            </a:r>
          </a:p>
          <a:p>
            <a:r>
              <a:rPr lang="ru-RU" sz="1400" dirty="0">
                <a:latin typeface="Calibri" panose="020F0502020204030204" pitchFamily="34" charset="0"/>
              </a:rPr>
              <a:t>- Корпоративный глоссарий для консистентности терминов</a:t>
            </a:r>
          </a:p>
          <a:p>
            <a:endParaRPr lang="ru-RU" sz="1800" dirty="0">
              <a:latin typeface="Calibri" panose="020F0502020204030204" pitchFamily="34" charset="0"/>
            </a:endParaRPr>
          </a:p>
          <a:p>
            <a:r>
              <a:rPr lang="ru-RU" sz="1600" b="1" dirty="0">
                <a:latin typeface="Calibri" panose="020F0502020204030204" pitchFamily="34" charset="0"/>
              </a:rPr>
              <a:t>Результат (4 месяца):</a:t>
            </a:r>
          </a:p>
          <a:p>
            <a:r>
              <a:rPr lang="ru-RU" sz="1400" dirty="0">
                <a:latin typeface="Calibri" panose="020F0502020204030204" pitchFamily="34" charset="0"/>
              </a:rPr>
              <a:t>* Частота публикаций: в 3 раза (2 до 6 статей/месяц)</a:t>
            </a:r>
          </a:p>
          <a:p>
            <a:r>
              <a:rPr lang="ru-RU" sz="1400" dirty="0">
                <a:latin typeface="Calibri" panose="020F0502020204030204" pitchFamily="34" charset="0"/>
              </a:rPr>
              <a:t>* Покрытие семантики: +180%</a:t>
            </a:r>
          </a:p>
          <a:p>
            <a:r>
              <a:rPr lang="ru-RU" sz="1400" dirty="0">
                <a:latin typeface="Calibri" panose="020F0502020204030204" pitchFamily="34" charset="0"/>
              </a:rPr>
              <a:t>* Время на статью: -60%</a:t>
            </a:r>
          </a:p>
          <a:p>
            <a:r>
              <a:rPr lang="ru-RU" sz="1400" dirty="0">
                <a:latin typeface="Calibri" panose="020F0502020204030204" pitchFamily="34" charset="0"/>
              </a:rPr>
              <a:t>* Контент на 3 языках без увеличения штата</a:t>
            </a:r>
          </a:p>
        </p:txBody>
      </p:sp>
    </p:spTree>
    <p:extLst>
      <p:ext uri="{BB962C8B-B14F-4D97-AF65-F5344CB8AC3E}">
        <p14:creationId xmlns:p14="http://schemas.microsoft.com/office/powerpoint/2010/main" val="3111878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94690B-5887-648C-4AE7-698976467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24288"/>
            <a:ext cx="8596668" cy="692349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>
                <a:latin typeface="Calibri" panose="020F0502020204030204" pitchFamily="34" charset="0"/>
              </a:rPr>
              <a:t>КЕЙС 3: АНАЛИТИКА И РОСТ КОНВЕРСИИ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AC19D3B-94AB-3E11-57B9-6F7898B06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1127465"/>
            <a:ext cx="8596668" cy="4913898"/>
          </a:xfrm>
        </p:spPr>
        <p:txBody>
          <a:bodyPr>
            <a:noAutofit/>
          </a:bodyPr>
          <a:lstStyle/>
          <a:p>
            <a:r>
              <a:rPr lang="ru-RU" sz="1600" b="1" dirty="0">
                <a:latin typeface="Calibri" panose="020F0502020204030204" pitchFamily="34" charset="0"/>
              </a:rPr>
              <a:t>Проблема:</a:t>
            </a:r>
          </a:p>
          <a:p>
            <a:r>
              <a:rPr lang="ru-RU" sz="1400" dirty="0">
                <a:latin typeface="Calibri" panose="020F0502020204030204" pitchFamily="34" charset="0"/>
              </a:rPr>
              <a:t>- Непонятно, какой контент приводит заявки</a:t>
            </a:r>
          </a:p>
          <a:p>
            <a:r>
              <a:rPr lang="ru-RU" sz="1400" dirty="0">
                <a:latin typeface="Calibri" panose="020F0502020204030204" pitchFamily="34" charset="0"/>
              </a:rPr>
              <a:t>- Разрозненные данные: Метрика, Search </a:t>
            </a:r>
            <a:r>
              <a:rPr lang="ru-RU" sz="1400" dirty="0" err="1">
                <a:latin typeface="Calibri" panose="020F0502020204030204" pitchFamily="34" charset="0"/>
              </a:rPr>
              <a:t>Console</a:t>
            </a:r>
            <a:r>
              <a:rPr lang="ru-RU" sz="1400" dirty="0">
                <a:latin typeface="Calibri" panose="020F0502020204030204" pitchFamily="34" charset="0"/>
              </a:rPr>
              <a:t>, CRM</a:t>
            </a:r>
          </a:p>
          <a:p>
            <a:r>
              <a:rPr lang="ru-RU" sz="1400" dirty="0">
                <a:latin typeface="Calibri" panose="020F0502020204030204" pitchFamily="34" charset="0"/>
              </a:rPr>
              <a:t>- Низкая конверсия из органики (0.8%)</a:t>
            </a:r>
          </a:p>
          <a:p>
            <a:endParaRPr lang="ru-RU" sz="1800" dirty="0">
              <a:latin typeface="Calibri" panose="020F0502020204030204" pitchFamily="34" charset="0"/>
            </a:endParaRPr>
          </a:p>
          <a:p>
            <a:r>
              <a:rPr lang="ru-RU" sz="1600" b="1" dirty="0">
                <a:latin typeface="Calibri" panose="020F0502020204030204" pitchFamily="34" charset="0"/>
              </a:rPr>
              <a:t>Решение:</a:t>
            </a:r>
          </a:p>
          <a:p>
            <a:r>
              <a:rPr lang="ru-RU" sz="1400" dirty="0">
                <a:latin typeface="Calibri" panose="020F0502020204030204" pitchFamily="34" charset="0"/>
              </a:rPr>
              <a:t>- Power BI-дашборд: трафик -&gt; поведение -&gt; заявки -&gt; клиенты</a:t>
            </a:r>
          </a:p>
          <a:p>
            <a:r>
              <a:rPr lang="ru-RU" sz="1400" dirty="0">
                <a:latin typeface="Calibri" panose="020F0502020204030204" pitchFamily="34" charset="0"/>
              </a:rPr>
              <a:t>- Интеграция </a:t>
            </a:r>
            <a:r>
              <a:rPr lang="ru-RU" sz="1400" dirty="0" err="1">
                <a:latin typeface="Calibri" panose="020F0502020204030204" pitchFamily="34" charset="0"/>
              </a:rPr>
              <a:t>Яндекс.Метрика</a:t>
            </a:r>
            <a:r>
              <a:rPr lang="ru-RU" sz="1400" dirty="0">
                <a:latin typeface="Calibri" panose="020F0502020204030204" pitchFamily="34" charset="0"/>
              </a:rPr>
              <a:t> + Google Analytics + Search </a:t>
            </a:r>
            <a:r>
              <a:rPr lang="ru-RU" sz="1400" dirty="0" err="1">
                <a:latin typeface="Calibri" panose="020F0502020204030204" pitchFamily="34" charset="0"/>
              </a:rPr>
              <a:t>Console</a:t>
            </a:r>
            <a:endParaRPr lang="ru-RU" sz="1400" dirty="0">
              <a:latin typeface="Calibri" panose="020F0502020204030204" pitchFamily="34" charset="0"/>
            </a:endParaRPr>
          </a:p>
          <a:p>
            <a:r>
              <a:rPr lang="ru-RU" sz="1400" dirty="0">
                <a:latin typeface="Calibri" panose="020F0502020204030204" pitchFamily="34" charset="0"/>
              </a:rPr>
              <a:t>- Автоматическая </a:t>
            </a:r>
            <a:r>
              <a:rPr lang="ru-RU" sz="1400" dirty="0" err="1">
                <a:latin typeface="Calibri" panose="020F0502020204030204" pitchFamily="34" charset="0"/>
              </a:rPr>
              <a:t>отслежка</a:t>
            </a:r>
            <a:r>
              <a:rPr lang="ru-RU" sz="1400" dirty="0">
                <a:latin typeface="Calibri" panose="020F0502020204030204" pitchFamily="34" charset="0"/>
              </a:rPr>
              <a:t> User </a:t>
            </a:r>
            <a:r>
              <a:rPr lang="ru-RU" sz="1400" dirty="0" err="1">
                <a:latin typeface="Calibri" panose="020F0502020204030204" pitchFamily="34" charset="0"/>
              </a:rPr>
              <a:t>Flow</a:t>
            </a:r>
            <a:r>
              <a:rPr lang="ru-RU" sz="1400" dirty="0">
                <a:latin typeface="Calibri" panose="020F0502020204030204" pitchFamily="34" charset="0"/>
              </a:rPr>
              <a:t> и точек выхода</a:t>
            </a:r>
          </a:p>
          <a:p>
            <a:r>
              <a:rPr lang="ru-RU" sz="1400" dirty="0">
                <a:latin typeface="Calibri" panose="020F0502020204030204" pitchFamily="34" charset="0"/>
              </a:rPr>
              <a:t>- A/B-тесты заголовков и CTA на посадочных страницах</a:t>
            </a:r>
          </a:p>
          <a:p>
            <a:endParaRPr lang="ru-RU" sz="1800" dirty="0">
              <a:latin typeface="Calibri" panose="020F0502020204030204" pitchFamily="34" charset="0"/>
            </a:endParaRPr>
          </a:p>
          <a:p>
            <a:r>
              <a:rPr lang="ru-RU" sz="1600" b="1" dirty="0">
                <a:latin typeface="Calibri" panose="020F0502020204030204" pitchFamily="34" charset="0"/>
              </a:rPr>
              <a:t>Результат:</a:t>
            </a:r>
          </a:p>
          <a:p>
            <a:r>
              <a:rPr lang="ru-RU" sz="1400" dirty="0">
                <a:latin typeface="Calibri" panose="020F0502020204030204" pitchFamily="34" charset="0"/>
              </a:rPr>
              <a:t>* Органический трафик: +145% (8 месяцев)</a:t>
            </a:r>
          </a:p>
          <a:p>
            <a:r>
              <a:rPr lang="ru-RU" sz="1400" dirty="0">
                <a:latin typeface="Calibri" panose="020F0502020204030204" pitchFamily="34" charset="0"/>
              </a:rPr>
              <a:t>* Конверсия: 0.8% до 2.3% (в 2.9 раза)</a:t>
            </a:r>
          </a:p>
          <a:p>
            <a:r>
              <a:rPr lang="ru-RU" sz="1400" dirty="0">
                <a:latin typeface="Calibri" panose="020F0502020204030204" pitchFamily="34" charset="0"/>
              </a:rPr>
              <a:t>* Топ-3 по 40% ключевых запросов</a:t>
            </a:r>
          </a:p>
          <a:p>
            <a:r>
              <a:rPr lang="ru-RU" sz="1400" dirty="0">
                <a:latin typeface="Calibri" panose="020F0502020204030204" pitchFamily="34" charset="0"/>
              </a:rPr>
              <a:t>* ROMI SEO: вырос в 3.5 раза</a:t>
            </a:r>
          </a:p>
        </p:txBody>
      </p:sp>
    </p:spTree>
    <p:extLst>
      <p:ext uri="{BB962C8B-B14F-4D97-AF65-F5344CB8AC3E}">
        <p14:creationId xmlns:p14="http://schemas.microsoft.com/office/powerpoint/2010/main" val="1068499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0A8D2F-0D85-0148-5ACA-8023D8E91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30928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>
                <a:latin typeface="Calibri" panose="020F0502020204030204" pitchFamily="34" charset="0"/>
              </a:rPr>
              <a:t>КЕЙС 4: МУЛЬТИРЕГИОНАЛЬНОЕ </a:t>
            </a:r>
            <a:r>
              <a:rPr lang="en-US" sz="2800" b="1" dirty="0">
                <a:latin typeface="Calibri" panose="020F0502020204030204" pitchFamily="34" charset="0"/>
              </a:rPr>
              <a:t>SEO</a:t>
            </a:r>
            <a:endParaRPr lang="ru-RU" sz="2800" b="1" dirty="0">
              <a:latin typeface="Calibri" panose="020F0502020204030204" pitchFamily="34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811F19-FEB5-07C7-C0DA-C3D7589C8D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1136343"/>
            <a:ext cx="8596668" cy="4905020"/>
          </a:xfrm>
        </p:spPr>
        <p:txBody>
          <a:bodyPr>
            <a:noAutofit/>
          </a:bodyPr>
          <a:lstStyle/>
          <a:p>
            <a:r>
              <a:rPr lang="ru-RU" sz="1600" b="1" dirty="0">
                <a:latin typeface="Calibri" panose="020F0502020204030204" pitchFamily="34" charset="0"/>
              </a:rPr>
              <a:t>Проблема:</a:t>
            </a:r>
          </a:p>
          <a:p>
            <a:r>
              <a:rPr lang="ru-RU" sz="1400" dirty="0">
                <a:latin typeface="Calibri" panose="020F0502020204030204" pitchFamily="34" charset="0"/>
              </a:rPr>
              <a:t>- Нужно продвигаться одновременно в России и Италии</a:t>
            </a:r>
          </a:p>
          <a:p>
            <a:r>
              <a:rPr lang="ru-RU" sz="1400" dirty="0">
                <a:latin typeface="Calibri" panose="020F0502020204030204" pitchFamily="34" charset="0"/>
              </a:rPr>
              <a:t>- Разные поисковые привычки и ключевые слова</a:t>
            </a:r>
          </a:p>
          <a:p>
            <a:r>
              <a:rPr lang="ru-RU" sz="1400" dirty="0">
                <a:latin typeface="Calibri" panose="020F0502020204030204" pitchFamily="34" charset="0"/>
              </a:rPr>
              <a:t>- Отсутствие локального присутствия в Италии</a:t>
            </a:r>
          </a:p>
          <a:p>
            <a:endParaRPr lang="ru-RU" sz="1800" dirty="0">
              <a:latin typeface="Calibri" panose="020F0502020204030204" pitchFamily="34" charset="0"/>
            </a:endParaRPr>
          </a:p>
          <a:p>
            <a:r>
              <a:rPr lang="ru-RU" sz="1600" b="1" dirty="0">
                <a:latin typeface="Calibri" panose="020F0502020204030204" pitchFamily="34" charset="0"/>
              </a:rPr>
              <a:t>Решение:</a:t>
            </a:r>
          </a:p>
          <a:p>
            <a:r>
              <a:rPr lang="ru-RU" sz="1400" dirty="0">
                <a:latin typeface="Calibri" panose="020F0502020204030204" pitchFamily="34" charset="0"/>
              </a:rPr>
              <a:t>- Локализация контента с учётом культурных особенностей</a:t>
            </a:r>
          </a:p>
          <a:p>
            <a:r>
              <a:rPr lang="ru-RU" sz="1400" dirty="0">
                <a:latin typeface="Calibri" panose="020F0502020204030204" pitchFamily="34" charset="0"/>
              </a:rPr>
              <a:t>- Оптимизация Google My Business (Италия) и </a:t>
            </a:r>
            <a:r>
              <a:rPr lang="ru-RU" sz="1400" dirty="0" err="1">
                <a:latin typeface="Calibri" panose="020F0502020204030204" pitchFamily="34" charset="0"/>
              </a:rPr>
              <a:t>Яндекс.Справочник</a:t>
            </a:r>
            <a:r>
              <a:rPr lang="ru-RU" sz="1400" dirty="0">
                <a:latin typeface="Calibri" panose="020F0502020204030204" pitchFamily="34" charset="0"/>
              </a:rPr>
              <a:t> (РФ)</a:t>
            </a:r>
          </a:p>
          <a:p>
            <a:r>
              <a:rPr lang="ru-RU" sz="1400" dirty="0">
                <a:latin typeface="Calibri" panose="020F0502020204030204" pitchFamily="34" charset="0"/>
              </a:rPr>
              <a:t>- Создание отдельных посадочных страниц под каждый регион</a:t>
            </a:r>
          </a:p>
          <a:p>
            <a:r>
              <a:rPr lang="ru-RU" sz="1400" dirty="0">
                <a:latin typeface="Calibri" panose="020F0502020204030204" pitchFamily="34" charset="0"/>
              </a:rPr>
              <a:t>- Link </a:t>
            </a:r>
            <a:r>
              <a:rPr lang="ru-RU" sz="1400" dirty="0" err="1">
                <a:latin typeface="Calibri" panose="020F0502020204030204" pitchFamily="34" charset="0"/>
              </a:rPr>
              <a:t>building</a:t>
            </a:r>
            <a:r>
              <a:rPr lang="ru-RU" sz="1400" dirty="0">
                <a:latin typeface="Calibri" panose="020F0502020204030204" pitchFamily="34" charset="0"/>
              </a:rPr>
              <a:t> через итальянские бизнес-ассоциации</a:t>
            </a:r>
          </a:p>
          <a:p>
            <a:endParaRPr lang="ru-RU" sz="1800" dirty="0">
              <a:latin typeface="Calibri" panose="020F0502020204030204" pitchFamily="34" charset="0"/>
            </a:endParaRPr>
          </a:p>
          <a:p>
            <a:r>
              <a:rPr lang="ru-RU" sz="1600" b="1" dirty="0">
                <a:latin typeface="Calibri" panose="020F0502020204030204" pitchFamily="34" charset="0"/>
              </a:rPr>
              <a:t>Результат:</a:t>
            </a:r>
          </a:p>
          <a:p>
            <a:r>
              <a:rPr lang="ru-RU" sz="1400" dirty="0">
                <a:latin typeface="Calibri" panose="020F0502020204030204" pitchFamily="34" charset="0"/>
              </a:rPr>
              <a:t>* Трафик из Италии: +220%</a:t>
            </a:r>
          </a:p>
          <a:p>
            <a:r>
              <a:rPr lang="ru-RU" sz="1400" dirty="0">
                <a:latin typeface="Calibri" panose="020F0502020204030204" pitchFamily="34" charset="0"/>
              </a:rPr>
              <a:t>* Трафик из России: +95%</a:t>
            </a:r>
          </a:p>
          <a:p>
            <a:r>
              <a:rPr lang="ru-RU" sz="1400" dirty="0">
                <a:latin typeface="Calibri" panose="020F0502020204030204" pitchFamily="34" charset="0"/>
              </a:rPr>
              <a:t>* Топ-10 по 25 локальным запросам в Милане</a:t>
            </a:r>
          </a:p>
          <a:p>
            <a:r>
              <a:rPr lang="ru-RU" sz="1400" dirty="0">
                <a:latin typeface="Calibri" panose="020F0502020204030204" pitchFamily="34" charset="0"/>
              </a:rPr>
              <a:t>* Заявки из Италии: 15% от общего числа</a:t>
            </a:r>
          </a:p>
        </p:txBody>
      </p:sp>
    </p:spTree>
    <p:extLst>
      <p:ext uri="{BB962C8B-B14F-4D97-AF65-F5344CB8AC3E}">
        <p14:creationId xmlns:p14="http://schemas.microsoft.com/office/powerpoint/2010/main" val="1974436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051379-5617-33E5-A680-D6A6ED8D3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04295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>
                <a:latin typeface="Calibri" panose="020F0502020204030204" pitchFamily="34" charset="0"/>
              </a:rPr>
              <a:t>ИНСТРУМЕНТЫ И ТЕХНОЛОГИИ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60AAA63-3333-9112-AA96-922DB2158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1216241"/>
            <a:ext cx="8596668" cy="4825121"/>
          </a:xfrm>
        </p:spPr>
        <p:txBody>
          <a:bodyPr>
            <a:noAutofit/>
          </a:bodyPr>
          <a:lstStyle/>
          <a:p>
            <a:r>
              <a:rPr lang="en-US" sz="1800" b="1" dirty="0">
                <a:latin typeface="Calibri" panose="020F0502020204030204" pitchFamily="34" charset="0"/>
              </a:rPr>
              <a:t>SEO-</a:t>
            </a:r>
            <a:r>
              <a:rPr lang="ru-RU" sz="1800" b="1" dirty="0">
                <a:latin typeface="Calibri" panose="020F0502020204030204" pitchFamily="34" charset="0"/>
              </a:rPr>
              <a:t>инструменты:</a:t>
            </a:r>
          </a:p>
          <a:p>
            <a:r>
              <a:rPr lang="ru-RU" sz="1400" dirty="0">
                <a:latin typeface="Calibri" panose="020F0502020204030204" pitchFamily="34" charset="0"/>
              </a:rPr>
              <a:t>- </a:t>
            </a:r>
            <a:r>
              <a:rPr lang="ru-RU" sz="1400" dirty="0" err="1">
                <a:latin typeface="Calibri" panose="020F0502020204030204" pitchFamily="34" charset="0"/>
              </a:rPr>
              <a:t>Яндекс.Метрика</a:t>
            </a:r>
            <a:r>
              <a:rPr lang="ru-RU" sz="1400" dirty="0">
                <a:latin typeface="Calibri" panose="020F0502020204030204" pitchFamily="34" charset="0"/>
              </a:rPr>
              <a:t>, </a:t>
            </a:r>
            <a:r>
              <a:rPr lang="en-US" sz="1400" dirty="0">
                <a:latin typeface="Calibri" panose="020F0502020204030204" pitchFamily="34" charset="0"/>
              </a:rPr>
              <a:t>Google Analytics, Search Console</a:t>
            </a:r>
          </a:p>
          <a:p>
            <a:r>
              <a:rPr lang="en-US" sz="1400" dirty="0">
                <a:latin typeface="Calibri" panose="020F0502020204030204" pitchFamily="34" charset="0"/>
              </a:rPr>
              <a:t>- Power BI </a:t>
            </a:r>
            <a:r>
              <a:rPr lang="ru-RU" sz="1400" dirty="0">
                <a:latin typeface="Calibri" panose="020F0502020204030204" pitchFamily="34" charset="0"/>
              </a:rPr>
              <a:t>для сквозной аналитики</a:t>
            </a:r>
          </a:p>
          <a:p>
            <a:r>
              <a:rPr lang="ru-RU" sz="1400" dirty="0">
                <a:latin typeface="Calibri" panose="020F0502020204030204" pitchFamily="34" charset="0"/>
              </a:rPr>
              <a:t>- </a:t>
            </a:r>
            <a:r>
              <a:rPr lang="en-US" sz="1400" dirty="0">
                <a:latin typeface="Calibri" panose="020F0502020204030204" pitchFamily="34" charset="0"/>
              </a:rPr>
              <a:t>Python (</a:t>
            </a:r>
            <a:r>
              <a:rPr lang="en-US" sz="1400" dirty="0" err="1">
                <a:latin typeface="Calibri" panose="020F0502020204030204" pitchFamily="34" charset="0"/>
              </a:rPr>
              <a:t>BeautifulSoup</a:t>
            </a:r>
            <a:r>
              <a:rPr lang="en-US" sz="1400" dirty="0">
                <a:latin typeface="Calibri" panose="020F0502020204030204" pitchFamily="34" charset="0"/>
              </a:rPr>
              <a:t>, pandas, scikit-learn </a:t>
            </a:r>
            <a:r>
              <a:rPr lang="ru-RU" sz="1400" dirty="0">
                <a:latin typeface="Calibri" panose="020F0502020204030204" pitchFamily="34" charset="0"/>
              </a:rPr>
              <a:t>для </a:t>
            </a:r>
            <a:r>
              <a:rPr lang="en-US" sz="1400" dirty="0">
                <a:latin typeface="Calibri" panose="020F0502020204030204" pitchFamily="34" charset="0"/>
              </a:rPr>
              <a:t>NLP)</a:t>
            </a:r>
            <a:endParaRPr lang="en-US" sz="1800" dirty="0">
              <a:latin typeface="Calibri" panose="020F0502020204030204" pitchFamily="34" charset="0"/>
            </a:endParaRPr>
          </a:p>
          <a:p>
            <a:r>
              <a:rPr lang="en-US" sz="1600" b="1" dirty="0">
                <a:latin typeface="Calibri" panose="020F0502020204030204" pitchFamily="34" charset="0"/>
              </a:rPr>
              <a:t>AI </a:t>
            </a:r>
            <a:r>
              <a:rPr lang="ru-RU" sz="1600" b="1" dirty="0">
                <a:latin typeface="Calibri" panose="020F0502020204030204" pitchFamily="34" charset="0"/>
              </a:rPr>
              <a:t>и автоматизация:</a:t>
            </a:r>
          </a:p>
          <a:p>
            <a:r>
              <a:rPr lang="ru-RU" sz="1400" dirty="0">
                <a:latin typeface="Calibri" panose="020F0502020204030204" pitchFamily="34" charset="0"/>
              </a:rPr>
              <a:t>- </a:t>
            </a:r>
            <a:r>
              <a:rPr lang="en-US" sz="1400" dirty="0">
                <a:latin typeface="Calibri" panose="020F0502020204030204" pitchFamily="34" charset="0"/>
              </a:rPr>
              <a:t>GPT </a:t>
            </a:r>
            <a:r>
              <a:rPr lang="ru-RU" sz="1400" dirty="0">
                <a:latin typeface="Calibri" panose="020F0502020204030204" pitchFamily="34" charset="0"/>
              </a:rPr>
              <a:t>для генерации и ревью контента</a:t>
            </a:r>
          </a:p>
          <a:p>
            <a:r>
              <a:rPr lang="ru-RU" sz="1400" dirty="0">
                <a:latin typeface="Calibri" panose="020F0502020204030204" pitchFamily="34" charset="0"/>
              </a:rPr>
              <a:t>- </a:t>
            </a:r>
            <a:r>
              <a:rPr lang="en-US" sz="1400" dirty="0" err="1">
                <a:latin typeface="Calibri" panose="020F0502020204030204" pitchFamily="34" charset="0"/>
              </a:rPr>
              <a:t>DeepL</a:t>
            </a:r>
            <a:r>
              <a:rPr lang="en-US" sz="1400" dirty="0">
                <a:latin typeface="Calibri" panose="020F0502020204030204" pitchFamily="34" charset="0"/>
              </a:rPr>
              <a:t> API + Yandex Translate API</a:t>
            </a:r>
          </a:p>
          <a:p>
            <a:r>
              <a:rPr lang="en-US" sz="1400" dirty="0">
                <a:latin typeface="Calibri" panose="020F0502020204030204" pitchFamily="34" charset="0"/>
              </a:rPr>
              <a:t>- Git + CI/CD </a:t>
            </a:r>
            <a:r>
              <a:rPr lang="ru-RU" sz="1400" dirty="0">
                <a:latin typeface="Calibri" panose="020F0502020204030204" pitchFamily="34" charset="0"/>
              </a:rPr>
              <a:t>для быстрого деплоя изменений</a:t>
            </a:r>
            <a:endParaRPr lang="ru-RU" sz="1800" dirty="0">
              <a:latin typeface="Calibri" panose="020F0502020204030204" pitchFamily="34" charset="0"/>
            </a:endParaRPr>
          </a:p>
          <a:p>
            <a:r>
              <a:rPr lang="ru-RU" sz="1600" b="1" dirty="0">
                <a:latin typeface="Calibri" panose="020F0502020204030204" pitchFamily="34" charset="0"/>
              </a:rPr>
              <a:t>Системный подход:</a:t>
            </a:r>
          </a:p>
          <a:p>
            <a:r>
              <a:rPr lang="ru-RU" sz="1400" dirty="0">
                <a:latin typeface="Calibri" panose="020F0502020204030204" pitchFamily="34" charset="0"/>
              </a:rPr>
              <a:t>- </a:t>
            </a:r>
            <a:r>
              <a:rPr lang="en-US" sz="1400" dirty="0">
                <a:latin typeface="Calibri" panose="020F0502020204030204" pitchFamily="34" charset="0"/>
              </a:rPr>
              <a:t>Docs-as-Code </a:t>
            </a:r>
            <a:r>
              <a:rPr lang="ru-RU" sz="1400" dirty="0">
                <a:latin typeface="Calibri" panose="020F0502020204030204" pitchFamily="34" charset="0"/>
              </a:rPr>
              <a:t>для документации</a:t>
            </a:r>
          </a:p>
          <a:p>
            <a:r>
              <a:rPr lang="ru-RU" sz="1400" dirty="0">
                <a:latin typeface="Calibri" panose="020F0502020204030204" pitchFamily="34" charset="0"/>
              </a:rPr>
              <a:t>- </a:t>
            </a:r>
            <a:r>
              <a:rPr lang="en-US" sz="1400" dirty="0">
                <a:latin typeface="Calibri" panose="020F0502020204030204" pitchFamily="34" charset="0"/>
              </a:rPr>
              <a:t>BPMN </a:t>
            </a:r>
            <a:r>
              <a:rPr lang="ru-RU" sz="1400" dirty="0">
                <a:latin typeface="Calibri" panose="020F0502020204030204" pitchFamily="34" charset="0"/>
              </a:rPr>
              <a:t>для картирования пользовательских путей</a:t>
            </a:r>
          </a:p>
          <a:p>
            <a:r>
              <a:rPr lang="ru-RU" sz="1400" dirty="0">
                <a:latin typeface="Calibri" panose="020F0502020204030204" pitchFamily="34" charset="0"/>
              </a:rPr>
              <a:t>- </a:t>
            </a:r>
            <a:r>
              <a:rPr lang="en-US" sz="1400" dirty="0">
                <a:latin typeface="Calibri" panose="020F0502020204030204" pitchFamily="34" charset="0"/>
              </a:rPr>
              <a:t>Data-driven: </a:t>
            </a:r>
            <a:r>
              <a:rPr lang="ru-RU" sz="1400" dirty="0">
                <a:latin typeface="Calibri" panose="020F0502020204030204" pitchFamily="34" charset="0"/>
              </a:rPr>
              <a:t>гипотезы -&gt; тесты -&gt; метрики</a:t>
            </a:r>
          </a:p>
        </p:txBody>
      </p:sp>
    </p:spTree>
    <p:extLst>
      <p:ext uri="{BB962C8B-B14F-4D97-AF65-F5344CB8AC3E}">
        <p14:creationId xmlns:p14="http://schemas.microsoft.com/office/powerpoint/2010/main" val="362317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2EE037-6606-7088-D5F3-30DFC93CD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35619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>
                <a:latin typeface="Calibri" panose="020F0502020204030204" pitchFamily="34" charset="0"/>
              </a:rPr>
              <a:t>ИТОГОВЫЕ РЕЗУЛЬТАТЫ (2.5 ГОДА)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C311744-7668-A6CB-4C3F-D7FEC1AB1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1145219"/>
            <a:ext cx="8596668" cy="4896143"/>
          </a:xfrm>
        </p:spPr>
        <p:txBody>
          <a:bodyPr>
            <a:noAutofit/>
          </a:bodyPr>
          <a:lstStyle/>
          <a:p>
            <a:r>
              <a:rPr lang="ru-RU" sz="1600" b="1" dirty="0">
                <a:latin typeface="Calibri" panose="020F0502020204030204" pitchFamily="34" charset="0"/>
              </a:rPr>
              <a:t>Органический трафик: +240%</a:t>
            </a:r>
          </a:p>
          <a:p>
            <a:r>
              <a:rPr lang="ru-RU" sz="1400" dirty="0">
                <a:latin typeface="Calibri" panose="020F0502020204030204" pitchFamily="34" charset="0"/>
              </a:rPr>
              <a:t>* Видимость в поиске: в 4 раза</a:t>
            </a:r>
          </a:p>
          <a:p>
            <a:r>
              <a:rPr lang="ru-RU" sz="1400" dirty="0">
                <a:latin typeface="Calibri" panose="020F0502020204030204" pitchFamily="34" charset="0"/>
              </a:rPr>
              <a:t>* Конверсия из органики: в 2.9 раза (0.8% до 2.3%)</a:t>
            </a:r>
          </a:p>
          <a:p>
            <a:r>
              <a:rPr lang="ru-RU" sz="1400" dirty="0">
                <a:latin typeface="Calibri" panose="020F0502020204030204" pitchFamily="34" charset="0"/>
              </a:rPr>
              <a:t>* Контент: в 3 раза больше при том же штате</a:t>
            </a:r>
          </a:p>
          <a:p>
            <a:r>
              <a:rPr lang="ru-RU" sz="1400" dirty="0">
                <a:latin typeface="Calibri" panose="020F0502020204030204" pitchFamily="34" charset="0"/>
              </a:rPr>
              <a:t>* География: 2 страны (Россия + Италия)</a:t>
            </a:r>
          </a:p>
          <a:p>
            <a:r>
              <a:rPr lang="ru-RU" sz="1400" dirty="0">
                <a:latin typeface="Calibri" panose="020F0502020204030204" pitchFamily="34" charset="0"/>
              </a:rPr>
              <a:t>* Скорость сайта: +65%</a:t>
            </a:r>
          </a:p>
          <a:p>
            <a:r>
              <a:rPr lang="ru-RU" sz="1400" dirty="0">
                <a:latin typeface="Calibri" panose="020F0502020204030204" pitchFamily="34" charset="0"/>
              </a:rPr>
              <a:t>* Топ-3 по 40% ключевых запросов</a:t>
            </a:r>
          </a:p>
          <a:p>
            <a:r>
              <a:rPr lang="ru-RU" sz="1400" dirty="0">
                <a:latin typeface="Calibri" panose="020F0502020204030204" pitchFamily="34" charset="0"/>
              </a:rPr>
              <a:t>* ROMI SEO: в 3.5 раза</a:t>
            </a:r>
            <a:endParaRPr lang="ru-RU" sz="1800" dirty="0">
              <a:latin typeface="Calibri" panose="020F0502020204030204" pitchFamily="34" charset="0"/>
            </a:endParaRPr>
          </a:p>
          <a:p>
            <a:r>
              <a:rPr lang="ru-RU" sz="1800" b="1" dirty="0">
                <a:latin typeface="Calibri" panose="020F0502020204030204" pitchFamily="34" charset="0"/>
              </a:rPr>
              <a:t>Ключевой инсайт:</a:t>
            </a:r>
          </a:p>
          <a:p>
            <a:r>
              <a:rPr lang="ru-RU" sz="1400" dirty="0">
                <a:latin typeface="Calibri" panose="020F0502020204030204" pitchFamily="34" charset="0"/>
              </a:rPr>
              <a:t>Автоматизация + AI позволяют малому консалтингу</a:t>
            </a:r>
          </a:p>
          <a:p>
            <a:r>
              <a:rPr lang="ru-RU" sz="1400" dirty="0">
                <a:latin typeface="Calibri" panose="020F0502020204030204" pitchFamily="34" charset="0"/>
              </a:rPr>
              <a:t>конкурировать с крупными агентствами</a:t>
            </a:r>
          </a:p>
        </p:txBody>
      </p:sp>
    </p:spTree>
    <p:extLst>
      <p:ext uri="{BB962C8B-B14F-4D97-AF65-F5344CB8AC3E}">
        <p14:creationId xmlns:p14="http://schemas.microsoft.com/office/powerpoint/2010/main" val="1614892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9170F4-E2DA-E70A-C761-F0FDAD4D58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331650"/>
            <a:ext cx="7766936" cy="692459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Calibri" panose="020F0502020204030204" pitchFamily="34" charset="0"/>
              </a:rPr>
              <a:t>ГОТОВА ПРИМЕНИТЬ ОПЫТ К ВАШЕМУ БИЗНЕСУ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3143475-9938-DD8C-EFC5-F846F691EB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2024109"/>
            <a:ext cx="7766936" cy="3123623"/>
          </a:xfrm>
        </p:spPr>
        <p:txBody>
          <a:bodyPr>
            <a:noAutofit/>
          </a:bodyPr>
          <a:lstStyle/>
          <a:p>
            <a:r>
              <a:rPr lang="ru-RU" sz="1400" b="1" dirty="0">
                <a:latin typeface="Calibri" panose="020F0502020204030204" pitchFamily="34" charset="0"/>
              </a:rPr>
              <a:t>Варганова Полина Андреевна</a:t>
            </a:r>
          </a:p>
          <a:p>
            <a:r>
              <a:rPr lang="ru-RU" sz="1400" dirty="0">
                <a:latin typeface="Calibri" panose="020F0502020204030204" pitchFamily="34" charset="0"/>
              </a:rPr>
              <a:t>Системный аналитик с фокусом на </a:t>
            </a:r>
            <a:r>
              <a:rPr lang="en-US" sz="1400" dirty="0">
                <a:latin typeface="Calibri" panose="020F0502020204030204" pitchFamily="34" charset="0"/>
              </a:rPr>
              <a:t>SEO </a:t>
            </a:r>
            <a:r>
              <a:rPr lang="ru-RU" sz="1400" dirty="0">
                <a:latin typeface="Calibri" panose="020F0502020204030204" pitchFamily="34" charset="0"/>
              </a:rPr>
              <a:t>и автоматизацию</a:t>
            </a:r>
          </a:p>
          <a:p>
            <a:endParaRPr lang="ru-RU" sz="1800" dirty="0">
              <a:latin typeface="Calibri" panose="020F0502020204030204" pitchFamily="34" charset="0"/>
            </a:endParaRPr>
          </a:p>
          <a:p>
            <a:r>
              <a:rPr lang="ru-RU" sz="1400" b="1" dirty="0">
                <a:latin typeface="Calibri" panose="020F0502020204030204" pitchFamily="34" charset="0"/>
              </a:rPr>
              <a:t>Опыт: цифровизация консалтинга, </a:t>
            </a:r>
            <a:r>
              <a:rPr lang="en-US" sz="1400" b="1" dirty="0">
                <a:latin typeface="Calibri" panose="020F0502020204030204" pitchFamily="34" charset="0"/>
              </a:rPr>
              <a:t>AI-</a:t>
            </a:r>
            <a:r>
              <a:rPr lang="ru-RU" sz="1400" b="1" dirty="0">
                <a:latin typeface="Calibri" panose="020F0502020204030204" pitchFamily="34" charset="0"/>
              </a:rPr>
              <a:t>контент, мультиязычное </a:t>
            </a:r>
            <a:r>
              <a:rPr lang="en-US" sz="1400" b="1" dirty="0">
                <a:latin typeface="Calibri" panose="020F0502020204030204" pitchFamily="34" charset="0"/>
              </a:rPr>
              <a:t>SEO</a:t>
            </a:r>
          </a:p>
          <a:p>
            <a:r>
              <a:rPr lang="ru-RU" sz="1400" b="1" dirty="0">
                <a:latin typeface="Calibri" panose="020F0502020204030204" pitchFamily="34" charset="0"/>
              </a:rPr>
              <a:t>Стек: </a:t>
            </a:r>
            <a:r>
              <a:rPr lang="en-US" sz="1400" dirty="0">
                <a:latin typeface="Calibri" panose="020F0502020204030204" pitchFamily="34" charset="0"/>
              </a:rPr>
              <a:t>Python, Power BI, GPT, 1</a:t>
            </a:r>
            <a:r>
              <a:rPr lang="ru-RU" sz="1400" dirty="0">
                <a:latin typeface="Calibri" panose="020F0502020204030204" pitchFamily="34" charset="0"/>
              </a:rPr>
              <a:t>С, </a:t>
            </a:r>
            <a:r>
              <a:rPr lang="en-US" sz="1400" dirty="0">
                <a:latin typeface="Calibri" panose="020F0502020204030204" pitchFamily="34" charset="0"/>
              </a:rPr>
              <a:t>Git, NLP, API</a:t>
            </a:r>
          </a:p>
          <a:p>
            <a:endParaRPr lang="en-US" sz="1400" dirty="0">
              <a:latin typeface="Calibri" panose="020F0502020204030204" pitchFamily="34" charset="0"/>
            </a:endParaRPr>
          </a:p>
          <a:p>
            <a:r>
              <a:rPr lang="en-US" sz="1400" b="1" dirty="0">
                <a:latin typeface="Calibri" panose="020F0502020204030204" pitchFamily="34" charset="0"/>
              </a:rPr>
              <a:t>Email: p.w.workmail@list.ru</a:t>
            </a:r>
          </a:p>
          <a:p>
            <a:r>
              <a:rPr lang="ru-RU" sz="1400" dirty="0">
                <a:latin typeface="Calibri" panose="020F0502020204030204" pitchFamily="34" charset="0"/>
              </a:rPr>
              <a:t>Тел: +7 (916) 081-03-37</a:t>
            </a:r>
          </a:p>
          <a:p>
            <a:r>
              <a:rPr lang="en-US" sz="1400" dirty="0">
                <a:latin typeface="Calibri" panose="020F0502020204030204" pitchFamily="34" charset="0"/>
              </a:rPr>
              <a:t>Telegram: @PollyHimbeere</a:t>
            </a:r>
          </a:p>
          <a:p>
            <a:r>
              <a:rPr lang="en-US" sz="1400" b="1" dirty="0">
                <a:latin typeface="Calibri" panose="020F0502020204030204" pitchFamily="34" charset="0"/>
              </a:rPr>
              <a:t>GitHub: </a:t>
            </a:r>
            <a:r>
              <a:rPr lang="en-US" sz="1400" dirty="0">
                <a:latin typeface="Calibri" panose="020F0502020204030204" pitchFamily="34" charset="0"/>
              </a:rPr>
              <a:t>github.com/</a:t>
            </a:r>
            <a:r>
              <a:rPr lang="en-US" sz="1400" dirty="0" err="1">
                <a:latin typeface="Calibri" panose="020F0502020204030204" pitchFamily="34" charset="0"/>
              </a:rPr>
              <a:t>LamponeHub</a:t>
            </a:r>
            <a:r>
              <a:rPr lang="en-US" sz="1400" dirty="0">
                <a:latin typeface="Calibri" panose="020F0502020204030204" pitchFamily="34" charset="0"/>
              </a:rPr>
              <a:t>/System-Analysis</a:t>
            </a:r>
          </a:p>
          <a:p>
            <a:endParaRPr lang="en-US" sz="1400" dirty="0">
              <a:latin typeface="Calibri" panose="020F0502020204030204" pitchFamily="34" charset="0"/>
            </a:endParaRPr>
          </a:p>
          <a:p>
            <a:r>
              <a:rPr lang="ru-RU" sz="1400" b="1" dirty="0">
                <a:latin typeface="Calibri" panose="020F0502020204030204" pitchFamily="34" charset="0"/>
              </a:rPr>
              <a:t>Москва, м. Варшавская</a:t>
            </a:r>
          </a:p>
          <a:p>
            <a:r>
              <a:rPr lang="ru-RU" sz="1400" dirty="0">
                <a:latin typeface="Calibri" panose="020F0502020204030204" pitchFamily="34" charset="0"/>
              </a:rPr>
              <a:t>Формат: на месте / удалённо / гибрид</a:t>
            </a:r>
          </a:p>
        </p:txBody>
      </p:sp>
    </p:spTree>
    <p:extLst>
      <p:ext uri="{BB962C8B-B14F-4D97-AF65-F5344CB8AC3E}">
        <p14:creationId xmlns:p14="http://schemas.microsoft.com/office/powerpoint/2010/main" val="2376585105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</TotalTime>
  <Words>798</Words>
  <Application>Microsoft Office PowerPoint</Application>
  <PresentationFormat>Широкоэкранный</PresentationFormat>
  <Paragraphs>124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Trebuchet MS</vt:lpstr>
      <vt:lpstr>Wingdings 3</vt:lpstr>
      <vt:lpstr>Аспект</vt:lpstr>
      <vt:lpstr>SEO-ПРОДВИЖЕНИЕ КОНСАЛТИНГОВОЙ КОМПАНИИ Кейс: PianetaAzienda</vt:lpstr>
      <vt:lpstr>КЛИЕНТ: PIANETA AZIENDA</vt:lpstr>
      <vt:lpstr>КЕЙС 1: ТЕХНИЧЕСКАЯ ОПТИМИЗАЦИЯ САЙТА</vt:lpstr>
      <vt:lpstr>КЕЙС 2: AI-ГЕНЕРАЦИЯ SEO-КОНТЕНТА</vt:lpstr>
      <vt:lpstr>КЕЙС 3: АНАЛИТИКА И РОСТ КОНВЕРСИИ</vt:lpstr>
      <vt:lpstr>КЕЙС 4: МУЛЬТИРЕГИОНАЛЬНОЕ SEO</vt:lpstr>
      <vt:lpstr>ИНСТРУМЕНТЫ И ТЕХНОЛОГИИ</vt:lpstr>
      <vt:lpstr>ИТОГОВЫЕ РЕЗУЛЬТАТЫ (2.5 ГОДА)</vt:lpstr>
      <vt:lpstr>ГОТОВА ПРИМЕНИТЬ ОПЫТ К ВАШЕМУ БИЗНЕСУ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Полина Варганова</dc:creator>
  <cp:lastModifiedBy>Полина Варганова</cp:lastModifiedBy>
  <cp:revision>1</cp:revision>
  <dcterms:created xsi:type="dcterms:W3CDTF">2026-05-07T05:53:29Z</dcterms:created>
  <dcterms:modified xsi:type="dcterms:W3CDTF">2026-05-07T06:05:38Z</dcterms:modified>
</cp:coreProperties>
</file>