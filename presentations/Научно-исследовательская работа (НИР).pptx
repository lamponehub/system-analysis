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7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60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40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9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55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4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96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74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42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62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66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2489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556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0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25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839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429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3C1DB-EEA4-540F-73A3-E0DC31DD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87350E-7C54-C8DE-C0EB-08EE5807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E67D41-EDAF-F2B1-6142-F5A4BD8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4A6A6-663B-2628-E4AA-9DA13254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E9295-A33F-4406-E113-135A831B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96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BB5EF06-3647-4AF1-BC01-2DDBCC14B3F8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3373A-4743-43FF-BC3A-3C29BA10C1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421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DD486-1CC4-C09E-CC87-786BAB025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600" dirty="0"/>
              <a:t>Научно-исследовательская работа (НИР)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BCA510-C4F5-461E-C131-53C76286C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u-RU" sz="1100" b="1" dirty="0"/>
              <a:t>Тема: Оптимизация процессов кадрового документооборота и внедрение КЭП</a:t>
            </a:r>
          </a:p>
          <a:p>
            <a:r>
              <a:rPr lang="ru-RU" sz="1100" b="1" dirty="0"/>
              <a:t>Подтема: Технико-экономическое обоснование перехода на 1С:ДО 3.0</a:t>
            </a:r>
          </a:p>
          <a:p>
            <a:endParaRPr lang="ru-RU" sz="1100" b="1" dirty="0"/>
          </a:p>
          <a:p>
            <a:r>
              <a:rPr lang="ru-RU" sz="1100" b="1" dirty="0"/>
              <a:t>Исполнитель: Системный аналитик</a:t>
            </a:r>
          </a:p>
          <a:p>
            <a:r>
              <a:rPr lang="ru-RU" sz="1100" b="1" dirty="0"/>
              <a:t>Дата: декабрь 2025</a:t>
            </a:r>
          </a:p>
        </p:txBody>
      </p:sp>
    </p:spTree>
    <p:extLst>
      <p:ext uri="{BB962C8B-B14F-4D97-AF65-F5344CB8AC3E}">
        <p14:creationId xmlns:p14="http://schemas.microsoft.com/office/powerpoint/2010/main" val="164721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99123-BA03-1BA6-DFA3-AA5E8102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1. Актуальность и постановка проблемы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4F2130-8472-4043-50F0-E506B9810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Объект исследования: </a:t>
            </a:r>
            <a:r>
              <a:rPr lang="ru-RU" dirty="0"/>
              <a:t>Процесс согласования кадровой документации (штат 300+).</a:t>
            </a:r>
          </a:p>
          <a:p>
            <a:endParaRPr lang="ru-RU" dirty="0"/>
          </a:p>
          <a:p>
            <a:r>
              <a:rPr lang="ru-RU" b="1" dirty="0"/>
              <a:t>Выявленное противоречие:</a:t>
            </a:r>
          </a:p>
          <a:p>
            <a:r>
              <a:rPr lang="ru-RU" dirty="0"/>
              <a:t>• Потребность бизнеса в оперативном найме </a:t>
            </a:r>
            <a:r>
              <a:rPr lang="ru-RU" dirty="0" err="1"/>
              <a:t>vs</a:t>
            </a:r>
            <a:r>
              <a:rPr lang="ru-RU" dirty="0"/>
              <a:t> Физическое ограничение (подпись Гендира 1 раз в месяц).</a:t>
            </a:r>
          </a:p>
          <a:p>
            <a:endParaRPr lang="ru-RU" dirty="0"/>
          </a:p>
          <a:p>
            <a:r>
              <a:rPr lang="ru-RU" b="1" dirty="0"/>
              <a:t>Симптомы системного сбоя:</a:t>
            </a:r>
          </a:p>
          <a:p>
            <a:r>
              <a:rPr lang="ru-RU" dirty="0"/>
              <a:t>• Отток 60% кандидатов на этапе ожидания договора.</a:t>
            </a:r>
          </a:p>
          <a:p>
            <a:r>
              <a:rPr lang="ru-RU" dirty="0"/>
              <a:t>• Нарушение сроков отчетности в Минцифры (штрафные риски).</a:t>
            </a:r>
          </a:p>
          <a:p>
            <a:r>
              <a:rPr lang="ru-RU" dirty="0"/>
              <a:t>• Нецелевое использование ресурса Гендиректора (10 час/</a:t>
            </a:r>
            <a:r>
              <a:rPr lang="ru-RU" dirty="0" err="1"/>
              <a:t>мес</a:t>
            </a:r>
            <a:r>
              <a:rPr lang="ru-RU" dirty="0"/>
              <a:t> на рутину).</a:t>
            </a:r>
          </a:p>
        </p:txBody>
      </p:sp>
    </p:spTree>
    <p:extLst>
      <p:ext uri="{BB962C8B-B14F-4D97-AF65-F5344CB8AC3E}">
        <p14:creationId xmlns:p14="http://schemas.microsoft.com/office/powerpoint/2010/main" val="322259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7862E-E6BD-2CD3-29DE-1B4B6A66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2. Количественная оценка потерь (Loss Calculation)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9E8889-5007-67E0-DCA5-27660E534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Методология: Прямой расчет упущенной выгоды.</a:t>
            </a:r>
          </a:p>
          <a:p>
            <a:endParaRPr lang="ru-RU" dirty="0"/>
          </a:p>
          <a:p>
            <a:r>
              <a:rPr lang="ru-RU" dirty="0"/>
              <a:t>Формула ущерба: </a:t>
            </a:r>
            <a:r>
              <a:rPr lang="ru-RU" b="1" dirty="0"/>
              <a:t>U = (</a:t>
            </a:r>
            <a:r>
              <a:rPr lang="ru-RU" b="1" dirty="0" err="1"/>
              <a:t>N_lost</a:t>
            </a:r>
            <a:r>
              <a:rPr lang="ru-RU" b="1" dirty="0"/>
              <a:t> * </a:t>
            </a:r>
            <a:r>
              <a:rPr lang="ru-RU" b="1" dirty="0" err="1"/>
              <a:t>C_hire</a:t>
            </a:r>
            <a:r>
              <a:rPr lang="ru-RU" b="1" dirty="0"/>
              <a:t>) + </a:t>
            </a:r>
            <a:r>
              <a:rPr lang="ru-RU" b="1" dirty="0" err="1"/>
              <a:t>F_fines</a:t>
            </a:r>
            <a:r>
              <a:rPr lang="ru-RU" b="1" dirty="0"/>
              <a:t> + </a:t>
            </a:r>
            <a:r>
              <a:rPr lang="ru-RU" b="1" dirty="0" err="1"/>
              <a:t>T_CEO_cost</a:t>
            </a:r>
            <a:endParaRPr lang="ru-RU" b="1" dirty="0"/>
          </a:p>
          <a:p>
            <a:endParaRPr lang="ru-RU" dirty="0"/>
          </a:p>
          <a:p>
            <a:r>
              <a:rPr lang="ru-RU" b="1" dirty="0"/>
              <a:t>Расчетные данные за квартал:</a:t>
            </a:r>
          </a:p>
          <a:p>
            <a:r>
              <a:rPr lang="ru-RU" dirty="0"/>
              <a:t>1. Потери из-за оттока кандидатов: 1 200 000 ?.</a:t>
            </a:r>
          </a:p>
          <a:p>
            <a:r>
              <a:rPr lang="ru-RU" dirty="0"/>
              <a:t>2. Прямые штрафы регуляторов: Зафиксированы случаи.</a:t>
            </a:r>
          </a:p>
          <a:p>
            <a:r>
              <a:rPr lang="ru-RU" dirty="0"/>
              <a:t>3. Альтернативная стоимость времени Гендиректора: Значительная.</a:t>
            </a:r>
          </a:p>
          <a:p>
            <a:endParaRPr lang="ru-RU" dirty="0"/>
          </a:p>
          <a:p>
            <a:r>
              <a:rPr lang="ru-RU" b="1" dirty="0"/>
              <a:t>Вывод: </a:t>
            </a:r>
            <a:r>
              <a:rPr lang="ru-RU" dirty="0"/>
              <a:t>Текущая процессная модель экономически несостоятельна.</a:t>
            </a:r>
          </a:p>
        </p:txBody>
      </p:sp>
    </p:spTree>
    <p:extLst>
      <p:ext uri="{BB962C8B-B14F-4D97-AF65-F5344CB8AC3E}">
        <p14:creationId xmlns:p14="http://schemas.microsoft.com/office/powerpoint/2010/main" val="9825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6121C-1FE6-139B-2D7A-82D16F89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3. Сравнительный анализ архитектурных решений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A3A4BA-8210-6F9B-DE1D-B7FD937DE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Критерии: КЭП (ГОСТ), интеграция с госорганами, безопасность </a:t>
            </a:r>
            <a:r>
              <a:rPr lang="ru-RU" b="1" dirty="0" err="1"/>
              <a:t>ПДн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b="1" dirty="0"/>
              <a:t>Вариант А (1С:ДО 2.1):</a:t>
            </a:r>
          </a:p>
          <a:p>
            <a:r>
              <a:rPr lang="ru-RU" dirty="0"/>
              <a:t>• Риски: Ограниченная поддержка новых стандартов КЭП, риски несоответствия </a:t>
            </a:r>
            <a:r>
              <a:rPr lang="ru-RU" dirty="0" err="1"/>
              <a:t>Минцифре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Вариант Б (1С:ДО 3.0):</a:t>
            </a:r>
          </a:p>
          <a:p>
            <a:r>
              <a:rPr lang="ru-RU" dirty="0"/>
              <a:t>• Преимущества: Нативная поддержка облачных КЭП, 2FA, соответствие 152-ФЗ.</a:t>
            </a:r>
          </a:p>
          <a:p>
            <a:endParaRPr lang="ru-RU" dirty="0"/>
          </a:p>
          <a:p>
            <a:r>
              <a:rPr lang="ru-RU" b="1" dirty="0"/>
              <a:t>Решение рабочей группы: </a:t>
            </a:r>
            <a:r>
              <a:rPr lang="ru-RU" dirty="0"/>
              <a:t>Принят Вариант Б как единственно возможный для масштабирования.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92510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89C9D-6D2E-F7FB-4708-19C16DFE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4. Архитектура решения и ТЗ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5E3E4-D7D0-D663-7785-356F0D877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Принцип: </a:t>
            </a:r>
            <a:r>
              <a:rPr lang="ru-RU" dirty="0"/>
              <a:t>Security </a:t>
            </a:r>
            <a:r>
              <a:rPr lang="ru-RU" dirty="0" err="1"/>
              <a:t>by</a:t>
            </a:r>
            <a:r>
              <a:rPr lang="ru-RU" dirty="0"/>
              <a:t> Design.</a:t>
            </a:r>
          </a:p>
          <a:p>
            <a:endParaRPr lang="ru-RU" dirty="0"/>
          </a:p>
          <a:p>
            <a:r>
              <a:rPr lang="ru-RU" b="1" dirty="0"/>
              <a:t>Трансформация требований (Закон -&gt; Код):</a:t>
            </a:r>
          </a:p>
          <a:p>
            <a:r>
              <a:rPr lang="ru-RU" dirty="0"/>
              <a:t>1. Идентификация подписанта -&gt; Реализация: Двухфакторная аутентификация (2FA).</a:t>
            </a:r>
          </a:p>
          <a:p>
            <a:r>
              <a:rPr lang="ru-RU" dirty="0"/>
              <a:t>2. Согласие на обработку </a:t>
            </a:r>
            <a:r>
              <a:rPr lang="ru-RU" dirty="0" err="1"/>
              <a:t>ПДн</a:t>
            </a:r>
            <a:r>
              <a:rPr lang="ru-RU" dirty="0"/>
              <a:t> (152-ФЗ) -&gt; Реализация: Программный чекбокс-триггер перед маршрутизацией.</a:t>
            </a:r>
          </a:p>
          <a:p>
            <a:endParaRPr lang="ru-RU" dirty="0"/>
          </a:p>
          <a:p>
            <a:r>
              <a:rPr lang="ru-RU" b="1" dirty="0"/>
              <a:t>Роль аналитика: </a:t>
            </a:r>
            <a:r>
              <a:rPr lang="ru-RU" dirty="0"/>
              <a:t>Обеспечение полной </a:t>
            </a:r>
            <a:r>
              <a:rPr lang="ru-RU" dirty="0" err="1"/>
              <a:t>трассируемости</a:t>
            </a:r>
            <a:r>
              <a:rPr lang="ru-RU" dirty="0"/>
              <a:t> требований от нормативного акта до настройки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04915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C6AEA-EC0C-B378-154F-A2CE65D8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Фактические показатели (Post-Implementation Review)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504BCA-8736-6C45-44B8-78C6A21A9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Период мониторинга: 6 месяцев.</a:t>
            </a:r>
          </a:p>
          <a:p>
            <a:endParaRPr lang="ru-RU" dirty="0"/>
          </a:p>
          <a:p>
            <a:r>
              <a:rPr lang="ru-RU" b="1" dirty="0"/>
              <a:t>Динамика показателей:</a:t>
            </a:r>
          </a:p>
          <a:p>
            <a:r>
              <a:rPr lang="ru-RU" dirty="0"/>
              <a:t>• Срок подписания: 30 дней -&gt; 1.5 дня (ускорение в 20 раз).</a:t>
            </a:r>
          </a:p>
          <a:p>
            <a:r>
              <a:rPr lang="ru-RU" dirty="0"/>
              <a:t>• Удержание кандидатов: 40% -&gt; 92%.</a:t>
            </a:r>
          </a:p>
          <a:p>
            <a:r>
              <a:rPr lang="ru-RU" dirty="0"/>
              <a:t>• Инциденты с регуляторами: 0.</a:t>
            </a:r>
          </a:p>
          <a:p>
            <a:endParaRPr lang="ru-RU" dirty="0"/>
          </a:p>
          <a:p>
            <a:r>
              <a:rPr lang="ru-RU" b="1" dirty="0"/>
              <a:t>Экономический эффект:</a:t>
            </a:r>
          </a:p>
          <a:p>
            <a:r>
              <a:rPr lang="ru-RU" dirty="0"/>
              <a:t>• Сохранено: 1.2 млн ?/квартал (фонд найма).</a:t>
            </a:r>
          </a:p>
          <a:p>
            <a:r>
              <a:rPr lang="ru-RU" dirty="0"/>
              <a:t>• Высвобождено: 16 часов/</a:t>
            </a:r>
            <a:r>
              <a:rPr lang="ru-RU" dirty="0" err="1"/>
              <a:t>мес</a:t>
            </a:r>
            <a:r>
              <a:rPr lang="ru-RU" dirty="0"/>
              <a:t> стратегического времени руководства.</a:t>
            </a:r>
          </a:p>
          <a:p>
            <a:endParaRPr lang="ru-RU" dirty="0"/>
          </a:p>
          <a:p>
            <a:r>
              <a:rPr lang="ru-RU" b="1" dirty="0"/>
              <a:t>Заключение: </a:t>
            </a:r>
            <a:r>
              <a:rPr lang="ru-RU" dirty="0"/>
              <a:t>Цель НИР достигнута, система эффективна.</a:t>
            </a:r>
          </a:p>
        </p:txBody>
      </p:sp>
    </p:spTree>
    <p:extLst>
      <p:ext uri="{BB962C8B-B14F-4D97-AF65-F5344CB8AC3E}">
        <p14:creationId xmlns:p14="http://schemas.microsoft.com/office/powerpoint/2010/main" val="1971283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406</Words>
  <Application>Microsoft Office PowerPoint</Application>
  <PresentationFormat>Широкоэкранный</PresentationFormat>
  <Paragraphs>58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Ион</vt:lpstr>
      <vt:lpstr>Научно-исследовательская работа (НИР)</vt:lpstr>
      <vt:lpstr>1. Актуальность и постановка проблемы</vt:lpstr>
      <vt:lpstr>2. Количественная оценка потерь (Loss Calculation)</vt:lpstr>
      <vt:lpstr>3. Сравнительный анализ архитектурных решений</vt:lpstr>
      <vt:lpstr>4. Архитектура решения и ТЗ</vt:lpstr>
      <vt:lpstr>5. Фактические показатели (Post-Implementation Review)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Варганова</dc:creator>
  <cp:lastModifiedBy>Полина Варганова</cp:lastModifiedBy>
  <cp:revision>1</cp:revision>
  <dcterms:created xsi:type="dcterms:W3CDTF">2026-03-14T18:41:37Z</dcterms:created>
  <dcterms:modified xsi:type="dcterms:W3CDTF">2026-03-14T18:44:01Z</dcterms:modified>
</cp:coreProperties>
</file>